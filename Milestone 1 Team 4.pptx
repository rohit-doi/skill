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8"/>
  </p:notesMasterIdLst>
  <p:handoutMasterIdLst>
    <p:handoutMasterId r:id="rId9"/>
  </p:handoutMasterIdLst>
  <p:sldIdLst>
    <p:sldId id="312" r:id="rId5"/>
    <p:sldId id="282" r:id="rId6"/>
    <p:sldId id="313" r:id="rId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67E75A-09E3-42CD-9D40-BBD997748EFC}" v="2" dt="2025-08-28T14:04:30.662"/>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576" autoAdjust="0"/>
  </p:normalViewPr>
  <p:slideViewPr>
    <p:cSldViewPr snapToGrid="0" snapToObjects="1">
      <p:cViewPr varScale="1">
        <p:scale>
          <a:sx n="90" d="100"/>
          <a:sy n="90" d="100"/>
        </p:scale>
        <p:origin x="355" y="67"/>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hit Kamatam" userId="f2e64cf36ed11f14" providerId="LiveId" clId="{D367E75A-09E3-42CD-9D40-BBD997748EFC}"/>
    <pc:docChg chg="addSld modSld sldOrd">
      <pc:chgData name="Rohit Kamatam" userId="f2e64cf36ed11f14" providerId="LiveId" clId="{D367E75A-09E3-42CD-9D40-BBD997748EFC}" dt="2025-09-01T14:47:26.031" v="97" actId="255"/>
      <pc:docMkLst>
        <pc:docMk/>
      </pc:docMkLst>
      <pc:sldChg chg="modSp mod">
        <pc:chgData name="Rohit Kamatam" userId="f2e64cf36ed11f14" providerId="LiveId" clId="{D367E75A-09E3-42CD-9D40-BBD997748EFC}" dt="2025-08-28T13:09:48.474" v="26" actId="20577"/>
        <pc:sldMkLst>
          <pc:docMk/>
          <pc:sldMk cId="685681062" sldId="282"/>
        </pc:sldMkLst>
        <pc:spChg chg="mod">
          <ac:chgData name="Rohit Kamatam" userId="f2e64cf36ed11f14" providerId="LiveId" clId="{D367E75A-09E3-42CD-9D40-BBD997748EFC}" dt="2025-08-28T13:09:42.092" v="25" actId="20577"/>
          <ac:spMkLst>
            <pc:docMk/>
            <pc:sldMk cId="685681062" sldId="282"/>
            <ac:spMk id="2" creationId="{FD5E8954-9BCB-7FD9-A210-38DC54382D45}"/>
          </ac:spMkLst>
        </pc:spChg>
        <pc:spChg chg="mod">
          <ac:chgData name="Rohit Kamatam" userId="f2e64cf36ed11f14" providerId="LiveId" clId="{D367E75A-09E3-42CD-9D40-BBD997748EFC}" dt="2025-08-28T13:09:48.474" v="26" actId="20577"/>
          <ac:spMkLst>
            <pc:docMk/>
            <pc:sldMk cId="685681062" sldId="282"/>
            <ac:spMk id="5" creationId="{9A7B1E3C-FAAF-7DAD-1031-6E58774E3E3F}"/>
          </ac:spMkLst>
        </pc:spChg>
      </pc:sldChg>
      <pc:sldChg chg="addSp modSp mod">
        <pc:chgData name="Rohit Kamatam" userId="f2e64cf36ed11f14" providerId="LiveId" clId="{D367E75A-09E3-42CD-9D40-BBD997748EFC}" dt="2025-08-28T14:05:45.619" v="78" actId="1076"/>
        <pc:sldMkLst>
          <pc:docMk/>
          <pc:sldMk cId="2202437675" sldId="312"/>
        </pc:sldMkLst>
        <pc:spChg chg="mod">
          <ac:chgData name="Rohit Kamatam" userId="f2e64cf36ed11f14" providerId="LiveId" clId="{D367E75A-09E3-42CD-9D40-BBD997748EFC}" dt="2025-08-28T14:05:45.619" v="78" actId="1076"/>
          <ac:spMkLst>
            <pc:docMk/>
            <pc:sldMk cId="2202437675" sldId="312"/>
            <ac:spMk id="2" creationId="{4207FF65-A536-F639-8591-ED024C223308}"/>
          </ac:spMkLst>
        </pc:spChg>
        <pc:spChg chg="add mod">
          <ac:chgData name="Rohit Kamatam" userId="f2e64cf36ed11f14" providerId="LiveId" clId="{D367E75A-09E3-42CD-9D40-BBD997748EFC}" dt="2025-08-28T13:09:28.355" v="20" actId="20577"/>
          <ac:spMkLst>
            <pc:docMk/>
            <pc:sldMk cId="2202437675" sldId="312"/>
            <ac:spMk id="3" creationId="{7ADE7F1D-562A-E755-397A-0962DEA28640}"/>
          </ac:spMkLst>
        </pc:spChg>
        <pc:spChg chg="add mod">
          <ac:chgData name="Rohit Kamatam" userId="f2e64cf36ed11f14" providerId="LiveId" clId="{D367E75A-09E3-42CD-9D40-BBD997748EFC}" dt="2025-08-28T14:05:39.070" v="77" actId="1076"/>
          <ac:spMkLst>
            <pc:docMk/>
            <pc:sldMk cId="2202437675" sldId="312"/>
            <ac:spMk id="4" creationId="{54FC63C4-BFA0-FD57-039A-6D3092F975CB}"/>
          </ac:spMkLst>
        </pc:spChg>
      </pc:sldChg>
      <pc:sldChg chg="modSp new mod ord">
        <pc:chgData name="Rohit Kamatam" userId="f2e64cf36ed11f14" providerId="LiveId" clId="{D367E75A-09E3-42CD-9D40-BBD997748EFC}" dt="2025-09-01T14:47:26.031" v="97" actId="255"/>
        <pc:sldMkLst>
          <pc:docMk/>
          <pc:sldMk cId="2113330187" sldId="313"/>
        </pc:sldMkLst>
        <pc:spChg chg="mod">
          <ac:chgData name="Rohit Kamatam" userId="f2e64cf36ed11f14" providerId="LiveId" clId="{D367E75A-09E3-42CD-9D40-BBD997748EFC}" dt="2025-09-01T14:47:26.031" v="97" actId="255"/>
          <ac:spMkLst>
            <pc:docMk/>
            <pc:sldMk cId="2113330187" sldId="313"/>
            <ac:spMk id="2" creationId="{4987D52D-F91A-B1C2-4259-0CC9F4F649F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1164400"/>
            <a:ext cx="6392421" cy="3117448"/>
          </a:xfrm>
        </p:spPr>
        <p:txBody>
          <a:bodyPr anchor="ctr"/>
          <a:lstStyle/>
          <a:p>
            <a:r>
              <a:rPr lang="en-US" b="0" dirty="0"/>
              <a:t>Skill Match Resume Matcher and Skill Recommender</a:t>
            </a:r>
            <a:endParaRPr lang="en-US" dirty="0"/>
          </a:p>
        </p:txBody>
      </p:sp>
      <p:sp>
        <p:nvSpPr>
          <p:cNvPr id="3" name="TextBox 2">
            <a:extLst>
              <a:ext uri="{FF2B5EF4-FFF2-40B4-BE49-F238E27FC236}">
                <a16:creationId xmlns:a16="http://schemas.microsoft.com/office/drawing/2014/main" id="{7ADE7F1D-562A-E755-397A-0962DEA28640}"/>
              </a:ext>
            </a:extLst>
          </p:cNvPr>
          <p:cNvSpPr txBox="1"/>
          <p:nvPr/>
        </p:nvSpPr>
        <p:spPr>
          <a:xfrm>
            <a:off x="10888133" y="5681133"/>
            <a:ext cx="1193800" cy="646331"/>
          </a:xfrm>
          <a:prstGeom prst="rect">
            <a:avLst/>
          </a:prstGeom>
          <a:noFill/>
        </p:spPr>
        <p:txBody>
          <a:bodyPr wrap="square" rtlCol="0">
            <a:spAutoFit/>
          </a:bodyPr>
          <a:lstStyle/>
          <a:p>
            <a:r>
              <a:rPr lang="en-IN" dirty="0"/>
              <a:t>Name:</a:t>
            </a:r>
            <a:br>
              <a:rPr lang="en-IN" dirty="0"/>
            </a:br>
            <a:r>
              <a:rPr lang="en-IN" dirty="0"/>
              <a:t>K. Rohit</a:t>
            </a:r>
          </a:p>
        </p:txBody>
      </p:sp>
      <p:sp>
        <p:nvSpPr>
          <p:cNvPr id="4" name="TextBox 3">
            <a:extLst>
              <a:ext uri="{FF2B5EF4-FFF2-40B4-BE49-F238E27FC236}">
                <a16:creationId xmlns:a16="http://schemas.microsoft.com/office/drawing/2014/main" id="{54FC63C4-BFA0-FD57-039A-6D3092F975CB}"/>
              </a:ext>
            </a:extLst>
          </p:cNvPr>
          <p:cNvSpPr txBox="1"/>
          <p:nvPr/>
        </p:nvSpPr>
        <p:spPr>
          <a:xfrm>
            <a:off x="3555999" y="660402"/>
            <a:ext cx="5266267" cy="461665"/>
          </a:xfrm>
          <a:prstGeom prst="rect">
            <a:avLst/>
          </a:prstGeom>
          <a:noFill/>
        </p:spPr>
        <p:txBody>
          <a:bodyPr wrap="square" rtlCol="0">
            <a:spAutoFit/>
          </a:bodyPr>
          <a:lstStyle/>
          <a:p>
            <a:r>
              <a:rPr lang="en-IN" sz="2400" dirty="0">
                <a:solidFill>
                  <a:srgbClr val="202C8F"/>
                </a:solidFill>
              </a:rPr>
              <a:t>Infosys Springboard Virtual Internship</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2685751" y="180556"/>
            <a:ext cx="2646620" cy="394090"/>
          </a:xfrm>
        </p:spPr>
        <p:txBody>
          <a:bodyPr/>
          <a:lstStyle/>
          <a:p>
            <a:r>
              <a:rPr lang="en-IN" sz="2400" b="0" dirty="0" err="1"/>
              <a:t>AbstraCT</a:t>
            </a:r>
            <a:r>
              <a:rPr lang="en-IN" sz="2400" b="0" dirty="0"/>
              <a:t> :</a:t>
            </a:r>
            <a:endParaRPr lang="en-US" sz="2400" dirty="0"/>
          </a:p>
        </p:txBody>
      </p:sp>
      <p:sp>
        <p:nvSpPr>
          <p:cNvPr id="5" name="Rectangle 2">
            <a:extLst>
              <a:ext uri="{FF2B5EF4-FFF2-40B4-BE49-F238E27FC236}">
                <a16:creationId xmlns:a16="http://schemas.microsoft.com/office/drawing/2014/main" id="{9A7B1E3C-FAAF-7DAD-1031-6E58774E3E3F}"/>
              </a:ext>
            </a:extLst>
          </p:cNvPr>
          <p:cNvSpPr>
            <a:spLocks noGrp="1" noChangeArrowheads="1"/>
          </p:cNvSpPr>
          <p:nvPr>
            <p:ph sz="half" idx="2"/>
          </p:nvPr>
        </p:nvSpPr>
        <p:spPr bwMode="auto">
          <a:xfrm>
            <a:off x="3095362" y="920621"/>
            <a:ext cx="873311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02C8F"/>
                </a:solidFill>
                <a:effectLst/>
                <a:latin typeface="Arial" panose="020B0604020202020204" pitchFamily="34" charset="0"/>
              </a:rPr>
              <a:t>Automated applicant tracking systems frequently filter out qualified candidates due to inadequate keyword matching and skill alignment. </a:t>
            </a:r>
            <a:r>
              <a:rPr kumimoji="0" lang="en-US" altLang="en-US" sz="1600" b="0" i="0" u="none" strike="noStrike" cap="none" normalizeH="0" baseline="0">
                <a:ln>
                  <a:noFill/>
                </a:ln>
                <a:solidFill>
                  <a:srgbClr val="202C8F"/>
                </a:solidFill>
                <a:effectLst/>
                <a:latin typeface="Arial" panose="020B0604020202020204" pitchFamily="34" charset="0"/>
              </a:rPr>
              <a:t>The Skill Match </a:t>
            </a:r>
            <a:r>
              <a:rPr kumimoji="0" lang="en-US" altLang="en-US" sz="1600" b="0" i="0" u="none" strike="noStrike" cap="none" normalizeH="0" baseline="0" dirty="0">
                <a:ln>
                  <a:noFill/>
                </a:ln>
                <a:solidFill>
                  <a:srgbClr val="202C8F"/>
                </a:solidFill>
                <a:effectLst/>
                <a:latin typeface="Arial" panose="020B0604020202020204" pitchFamily="34" charset="0"/>
              </a:rPr>
              <a:t>Resume Matcher and Skill Recommender addresses this challenge by implementing artificial intelligence and natural language processing to create intelligent connections between job seekers and employment opportunities. The system performs comprehensive analysis of resumes and job descriptions, providing skill matching, compatibility scoring, and personalized improvement recommendations. Core modules include resume parsing, job description analysis, skill extraction and normalization, and  matching engine. Enhanced features encompass visual keyword highlighting, AI-driven content suggestions, multi-job optimization capabilities, and integrated learning pathway recommendations. The architecture utilizes Python as the primary development language, incorporating </a:t>
            </a:r>
            <a:r>
              <a:rPr kumimoji="0" lang="en-US" altLang="en-US" sz="1600" b="0" i="0" u="none" strike="noStrike" cap="none" normalizeH="0" baseline="0" dirty="0" err="1">
                <a:ln>
                  <a:noFill/>
                </a:ln>
                <a:solidFill>
                  <a:srgbClr val="202C8F"/>
                </a:solidFill>
                <a:effectLst/>
                <a:latin typeface="Arial" panose="020B0604020202020204" pitchFamily="34" charset="0"/>
              </a:rPr>
              <a:t>spaCy</a:t>
            </a:r>
            <a:r>
              <a:rPr kumimoji="0" lang="en-US" altLang="en-US" sz="1600" b="0" i="0" u="none" strike="noStrike" cap="none" normalizeH="0" baseline="0" dirty="0">
                <a:ln>
                  <a:noFill/>
                </a:ln>
                <a:solidFill>
                  <a:srgbClr val="202C8F"/>
                </a:solidFill>
                <a:effectLst/>
                <a:latin typeface="Arial" panose="020B0604020202020204" pitchFamily="34" charset="0"/>
              </a:rPr>
              <a:t> and NLTK for natural language processing, and scikit-learn or TensorFlow for machine learning implementations. Document processing leverages </a:t>
            </a:r>
            <a:r>
              <a:rPr kumimoji="0" lang="en-US" altLang="en-US" sz="1600" b="0" i="0" u="none" strike="noStrike" cap="none" normalizeH="0" baseline="0" dirty="0" err="1">
                <a:ln>
                  <a:noFill/>
                </a:ln>
                <a:solidFill>
                  <a:srgbClr val="202C8F"/>
                </a:solidFill>
                <a:effectLst/>
                <a:latin typeface="Arial" panose="020B0604020202020204" pitchFamily="34" charset="0"/>
              </a:rPr>
              <a:t>pdfminer</a:t>
            </a:r>
            <a:r>
              <a:rPr kumimoji="0" lang="en-US" altLang="en-US" sz="1600" b="0" i="0" u="none" strike="noStrike" cap="none" normalizeH="0" baseline="0" dirty="0">
                <a:ln>
                  <a:noFill/>
                </a:ln>
                <a:solidFill>
                  <a:srgbClr val="202C8F"/>
                </a:solidFill>
                <a:effectLst/>
                <a:latin typeface="Arial" panose="020B0604020202020204" pitchFamily="34" charset="0"/>
              </a:rPr>
              <a:t> and </a:t>
            </a:r>
            <a:r>
              <a:rPr kumimoji="0" lang="en-US" altLang="en-US" sz="1600" b="0" i="0" u="none" strike="noStrike" cap="none" normalizeH="0" baseline="0" dirty="0" err="1">
                <a:ln>
                  <a:noFill/>
                </a:ln>
                <a:solidFill>
                  <a:srgbClr val="202C8F"/>
                </a:solidFill>
                <a:effectLst/>
                <a:latin typeface="Arial" panose="020B0604020202020204" pitchFamily="34" charset="0"/>
              </a:rPr>
              <a:t>pdfplumber</a:t>
            </a:r>
            <a:r>
              <a:rPr kumimoji="0" lang="en-US" altLang="en-US" sz="1600" b="0" i="0" u="none" strike="noStrike" cap="none" normalizeH="0" baseline="0" dirty="0">
                <a:ln>
                  <a:noFill/>
                </a:ln>
                <a:solidFill>
                  <a:srgbClr val="202C8F"/>
                </a:solidFill>
                <a:effectLst/>
                <a:latin typeface="Arial" panose="020B0604020202020204" pitchFamily="34" charset="0"/>
              </a:rPr>
              <a:t> libraries for multi-format resume parsing. The system integrates generative AI APIs</a:t>
            </a:r>
            <a:r>
              <a:rPr lang="en-US" altLang="en-US" sz="1600" dirty="0">
                <a:solidFill>
                  <a:srgbClr val="202C8F"/>
                </a:solidFill>
                <a:latin typeface="Arial" panose="020B0604020202020204" pitchFamily="34" charset="0"/>
              </a:rPr>
              <a:t> </a:t>
            </a:r>
            <a:r>
              <a:rPr kumimoji="0" lang="en-US" altLang="en-US" sz="1600" b="0" i="0" u="none" strike="noStrike" cap="none" normalizeH="0" baseline="0" dirty="0">
                <a:ln>
                  <a:noFill/>
                </a:ln>
                <a:solidFill>
                  <a:srgbClr val="202C8F"/>
                </a:solidFill>
                <a:effectLst/>
                <a:latin typeface="Arial" panose="020B0604020202020204" pitchFamily="34" charset="0"/>
              </a:rPr>
              <a:t>(OpenAI, Google Gemini) for intelligent content enhancement. Frontend development options include </a:t>
            </a:r>
            <a:r>
              <a:rPr kumimoji="0" lang="en-US" altLang="en-US" sz="1600" b="0" i="0" u="none" strike="noStrike" cap="none" normalizeH="0" baseline="0" dirty="0" err="1">
                <a:ln>
                  <a:noFill/>
                </a:ln>
                <a:solidFill>
                  <a:srgbClr val="202C8F"/>
                </a:solidFill>
                <a:effectLst/>
                <a:latin typeface="Arial" panose="020B0604020202020204" pitchFamily="34" charset="0"/>
              </a:rPr>
              <a:t>Streamlit</a:t>
            </a:r>
            <a:r>
              <a:rPr kumimoji="0" lang="en-US" altLang="en-US" sz="1600" b="0" i="0" u="none" strike="noStrike" cap="none" normalizeH="0" baseline="0" dirty="0">
                <a:ln>
                  <a:noFill/>
                </a:ln>
                <a:solidFill>
                  <a:srgbClr val="202C8F"/>
                </a:solidFill>
                <a:effectLst/>
                <a:latin typeface="Arial" panose="020B0604020202020204" pitchFamily="34" charset="0"/>
              </a:rPr>
              <a:t> for rapid prototyping and React.js for production deployment, supported by Flask or Node.js backend services with PostgreSQL or MongoDB data management.</a:t>
            </a:r>
            <a:r>
              <a:rPr lang="en-US" altLang="en-US" sz="1600" dirty="0">
                <a:solidFill>
                  <a:srgbClr val="202C8F"/>
                </a:solidFill>
                <a:latin typeface="Arial" panose="020B0604020202020204" pitchFamily="34" charset="0"/>
              </a:rPr>
              <a:t> </a:t>
            </a:r>
            <a:r>
              <a:rPr kumimoji="0" lang="en-US" altLang="en-US" sz="1600" b="0" i="0" u="none" strike="noStrike" cap="none" normalizeH="0" baseline="0" dirty="0">
                <a:ln>
                  <a:noFill/>
                </a:ln>
                <a:solidFill>
                  <a:srgbClr val="202C8F"/>
                </a:solidFill>
                <a:effectLst/>
                <a:latin typeface="Arial" panose="020B0604020202020204" pitchFamily="34" charset="0"/>
              </a:rPr>
              <a:t>Interactive dashboards utilize </a:t>
            </a:r>
            <a:r>
              <a:rPr kumimoji="0" lang="en-US" altLang="en-US" sz="1600" b="0" i="0" u="none" strike="noStrike" cap="none" normalizeH="0" baseline="0" dirty="0" err="1">
                <a:ln>
                  <a:noFill/>
                </a:ln>
                <a:solidFill>
                  <a:srgbClr val="202C8F"/>
                </a:solidFill>
                <a:effectLst/>
                <a:latin typeface="Arial" panose="020B0604020202020204" pitchFamily="34" charset="0"/>
              </a:rPr>
              <a:t>Plotly</a:t>
            </a:r>
            <a:r>
              <a:rPr kumimoji="0" lang="en-US" altLang="en-US" sz="1600" b="0" i="0" u="none" strike="noStrike" cap="none" normalizeH="0" baseline="0" dirty="0">
                <a:ln>
                  <a:noFill/>
                </a:ln>
                <a:solidFill>
                  <a:srgbClr val="202C8F"/>
                </a:solidFill>
                <a:effectLst/>
                <a:latin typeface="Arial" panose="020B0604020202020204" pitchFamily="34" charset="0"/>
              </a:rPr>
              <a:t> and matplotlib for comprehensive analytics and reporting. This modular architecture ensures scalability while maintaining data privacy standards, delivering measurable improvements in job matching accuracy for seekers and streamlined recruitment processes for employers</a:t>
            </a:r>
            <a:r>
              <a:rPr kumimoji="0" lang="en-US" altLang="en-US" sz="1400" b="0" i="0" u="none" strike="noStrike" cap="none" normalizeH="0" baseline="0" dirty="0">
                <a:ln>
                  <a:noFill/>
                </a:ln>
                <a:solidFill>
                  <a:srgbClr val="202C8F"/>
                </a:solidFill>
                <a:effectLst/>
                <a:latin typeface="Arial" panose="020B0604020202020204" pitchFamily="34" charset="0"/>
              </a:rPr>
              <a:t>.</a:t>
            </a:r>
          </a:p>
        </p:txBody>
      </p:sp>
    </p:spTree>
    <p:extLst>
      <p:ext uri="{BB962C8B-B14F-4D97-AF65-F5344CB8AC3E}">
        <p14:creationId xmlns:p14="http://schemas.microsoft.com/office/powerpoint/2010/main" val="68568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7D52D-F91A-B1C2-4259-0CC9F4F649FF}"/>
              </a:ext>
            </a:extLst>
          </p:cNvPr>
          <p:cNvSpPr>
            <a:spLocks noGrp="1"/>
          </p:cNvSpPr>
          <p:nvPr>
            <p:ph type="ctrTitle"/>
          </p:nvPr>
        </p:nvSpPr>
        <p:spPr/>
        <p:txBody>
          <a:bodyPr/>
          <a:lstStyle/>
          <a:p>
            <a:r>
              <a:rPr lang="en-IN" sz="5400" dirty="0"/>
              <a:t>Thank You</a:t>
            </a:r>
          </a:p>
        </p:txBody>
      </p:sp>
    </p:spTree>
    <p:extLst>
      <p:ext uri="{BB962C8B-B14F-4D97-AF65-F5344CB8AC3E}">
        <p14:creationId xmlns:p14="http://schemas.microsoft.com/office/powerpoint/2010/main" val="2113330187"/>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{5F5C9753-8C1C-4BD4-B974-463AE51E875A}tf78438558_win32</Template>
  <TotalTime>187</TotalTime>
  <Words>260</Words>
  <Application>Microsoft Office PowerPoint</Application>
  <PresentationFormat>Widescreen</PresentationFormat>
  <Paragraphs>6</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Arial Black</vt:lpstr>
      <vt:lpstr>Calibri</vt:lpstr>
      <vt:lpstr>Sabon Next LT</vt:lpstr>
      <vt:lpstr>Custom</vt:lpstr>
      <vt:lpstr>Skill Match Resume Matcher and Skill Recommender</vt:lpstr>
      <vt:lpstr>AbstraCT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Rohit Kamatam</dc:creator>
  <cp:lastModifiedBy>Rohit Kamatam</cp:lastModifiedBy>
  <cp:revision>1</cp:revision>
  <dcterms:created xsi:type="dcterms:W3CDTF">2025-08-28T08:42:53Z</dcterms:created>
  <dcterms:modified xsi:type="dcterms:W3CDTF">2025-09-01T14:47:35Z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